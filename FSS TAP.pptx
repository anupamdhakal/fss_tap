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eue Montreal Bold" charset="1" panose="00000400000000000000"/>
      <p:regular r:id="rId13"/>
    </p:embeddedFont>
    <p:embeddedFont>
      <p:font typeface="Neue Montreal Medium" charset="1" panose="00000400000000000000"/>
      <p:regular r:id="rId14"/>
    </p:embeddedFont>
    <p:embeddedFont>
      <p:font typeface="Neue Montreal" charset="1" panose="00000400000000000000"/>
      <p:regular r:id="rId15"/>
    </p:embeddedFont>
    <p:embeddedFont>
      <p:font typeface="Yeseva One" charset="1" panose="00000500000000000000"/>
      <p:regular r:id="rId16"/>
    </p:embeddedFont>
    <p:embeddedFont>
      <p:font typeface="League Spartan" charset="1" panose="00000800000000000000"/>
      <p:regular r:id="rId17"/>
    </p:embeddedFont>
    <p:embeddedFont>
      <p:font typeface="Canva Student Font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19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44658">
            <a:off x="3310848" y="-9099481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9" y="0"/>
                </a:lnTo>
                <a:lnTo>
                  <a:pt x="13448289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46621">
            <a:off x="-498788" y="8055066"/>
            <a:ext cx="7762300" cy="7742895"/>
          </a:xfrm>
          <a:custGeom>
            <a:avLst/>
            <a:gdLst/>
            <a:ahLst/>
            <a:cxnLst/>
            <a:rect r="r" b="b" t="t" l="l"/>
            <a:pathLst>
              <a:path h="7742895" w="7762300">
                <a:moveTo>
                  <a:pt x="0" y="0"/>
                </a:moveTo>
                <a:lnTo>
                  <a:pt x="7762301" y="0"/>
                </a:lnTo>
                <a:lnTo>
                  <a:pt x="7762301" y="7742895"/>
                </a:lnTo>
                <a:lnTo>
                  <a:pt x="0" y="7742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51704" y="472575"/>
            <a:ext cx="1313235" cy="484176"/>
            <a:chOff x="0" y="0"/>
            <a:chExt cx="345873" cy="127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5873" cy="127520"/>
            </a:xfrm>
            <a:custGeom>
              <a:avLst/>
              <a:gdLst/>
              <a:ahLst/>
              <a:cxnLst/>
              <a:rect r="r" b="b" t="t" l="l"/>
              <a:pathLst>
                <a:path h="127520" w="345873">
                  <a:moveTo>
                    <a:pt x="63760" y="0"/>
                  </a:moveTo>
                  <a:lnTo>
                    <a:pt x="282113" y="0"/>
                  </a:lnTo>
                  <a:cubicBezTo>
                    <a:pt x="317326" y="0"/>
                    <a:pt x="345873" y="28546"/>
                    <a:pt x="345873" y="63760"/>
                  </a:cubicBezTo>
                  <a:lnTo>
                    <a:pt x="345873" y="63760"/>
                  </a:lnTo>
                  <a:cubicBezTo>
                    <a:pt x="345873" y="80670"/>
                    <a:pt x="339155" y="96887"/>
                    <a:pt x="327198" y="108845"/>
                  </a:cubicBezTo>
                  <a:cubicBezTo>
                    <a:pt x="315241" y="120802"/>
                    <a:pt x="299023" y="127520"/>
                    <a:pt x="282113" y="127520"/>
                  </a:cubicBezTo>
                  <a:lnTo>
                    <a:pt x="63760" y="127520"/>
                  </a:lnTo>
                  <a:cubicBezTo>
                    <a:pt x="28546" y="127520"/>
                    <a:pt x="0" y="98973"/>
                    <a:pt x="0" y="63760"/>
                  </a:cubicBezTo>
                  <a:lnTo>
                    <a:pt x="0" y="63760"/>
                  </a:lnTo>
                  <a:cubicBezTo>
                    <a:pt x="0" y="28546"/>
                    <a:pt x="28546" y="0"/>
                    <a:pt x="63760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5873" cy="1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18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2026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946958" y="8269795"/>
            <a:ext cx="14204746" cy="0"/>
          </a:xfrm>
          <a:prstGeom prst="line">
            <a:avLst/>
          </a:prstGeom>
          <a:ln cap="rnd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92438" y="593606"/>
            <a:ext cx="3175790" cy="1048714"/>
          </a:xfrm>
          <a:custGeom>
            <a:avLst/>
            <a:gdLst/>
            <a:ahLst/>
            <a:cxnLst/>
            <a:rect r="r" b="b" t="t" l="l"/>
            <a:pathLst>
              <a:path h="1048714" w="3175790">
                <a:moveTo>
                  <a:pt x="0" y="0"/>
                </a:moveTo>
                <a:lnTo>
                  <a:pt x="3175790" y="0"/>
                </a:lnTo>
                <a:lnTo>
                  <a:pt x="3175790" y="1048713"/>
                </a:lnTo>
                <a:lnTo>
                  <a:pt x="0" y="1048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4242" r="0" b="-3789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01963" y="1639264"/>
            <a:ext cx="16613209" cy="386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1"/>
              </a:lnSpc>
              <a:spcBef>
                <a:spcPct val="0"/>
              </a:spcBef>
            </a:pPr>
            <a:r>
              <a:rPr lang="en-US" sz="22501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FSS TAP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958" y="6760852"/>
            <a:ext cx="266675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Presented by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958" y="7187307"/>
            <a:ext cx="487081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Arpan Bhattarai &amp; Anupam Dhakal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958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Date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4999" y="8908401"/>
            <a:ext cx="1602066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Website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958" y="9264883"/>
            <a:ext cx="3015424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8/25/2026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14999" y="9264883"/>
            <a:ext cx="333506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https://fss-tap.vercel.app/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68517" y="6368886"/>
            <a:ext cx="5668863" cy="189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FLUORESCENT ALUMNI ASSOCIATION</a:t>
            </a:r>
          </a:p>
          <a:p>
            <a:pPr algn="ctr">
              <a:lnSpc>
                <a:spcPts val="3640"/>
              </a:lnSpc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PRESENTS</a:t>
            </a:r>
          </a:p>
          <a:p>
            <a:pPr algn="ctr">
              <a:lnSpc>
                <a:spcPts val="3640"/>
              </a:lnSpc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TECH-HORIZON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3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HACKATHON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11054" y="6119741"/>
            <a:ext cx="1352332" cy="1237240"/>
          </a:xfrm>
          <a:custGeom>
            <a:avLst/>
            <a:gdLst/>
            <a:ahLst/>
            <a:cxnLst/>
            <a:rect r="r" b="b" t="t" l="l"/>
            <a:pathLst>
              <a:path h="1237240" w="1352332">
                <a:moveTo>
                  <a:pt x="0" y="0"/>
                </a:moveTo>
                <a:lnTo>
                  <a:pt x="1352331" y="0"/>
                </a:lnTo>
                <a:lnTo>
                  <a:pt x="1352331" y="1237239"/>
                </a:lnTo>
                <a:lnTo>
                  <a:pt x="0" y="1237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93726">
            <a:off x="-456248" y="1538819"/>
            <a:ext cx="16564892" cy="16523480"/>
          </a:xfrm>
          <a:custGeom>
            <a:avLst/>
            <a:gdLst/>
            <a:ahLst/>
            <a:cxnLst/>
            <a:rect r="r" b="b" t="t" l="l"/>
            <a:pathLst>
              <a:path h="16523480" w="16564892">
                <a:moveTo>
                  <a:pt x="0" y="0"/>
                </a:moveTo>
                <a:lnTo>
                  <a:pt x="16564892" y="0"/>
                </a:lnTo>
                <a:lnTo>
                  <a:pt x="16564892" y="16523480"/>
                </a:lnTo>
                <a:lnTo>
                  <a:pt x="0" y="16523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884606" y="4064516"/>
            <a:ext cx="4518788" cy="8941199"/>
            <a:chOff x="0" y="0"/>
            <a:chExt cx="2620010" cy="5184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true" rot="0">
            <a:off x="0" y="5143500"/>
            <a:ext cx="18288000" cy="5592769"/>
          </a:xfrm>
          <a:custGeom>
            <a:avLst/>
            <a:gdLst/>
            <a:ahLst/>
            <a:cxnLst/>
            <a:rect r="r" b="b" t="t" l="l"/>
            <a:pathLst>
              <a:path h="5592769" w="18288000">
                <a:moveTo>
                  <a:pt x="0" y="5592769"/>
                </a:moveTo>
                <a:lnTo>
                  <a:pt x="18288000" y="5592769"/>
                </a:lnTo>
                <a:lnTo>
                  <a:pt x="18288000" y="0"/>
                </a:lnTo>
                <a:lnTo>
                  <a:pt x="0" y="0"/>
                </a:lnTo>
                <a:lnTo>
                  <a:pt x="0" y="5592769"/>
                </a:lnTo>
                <a:close/>
              </a:path>
            </a:pathLst>
          </a:custGeom>
          <a:blipFill>
            <a:blip r:embed="rId5">
              <a:alphaModFix amt="79000"/>
            </a:blip>
            <a:stretch>
              <a:fillRect l="0" t="-56548" r="0" b="-9401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42430" y="5298404"/>
            <a:ext cx="1171171" cy="1237240"/>
          </a:xfrm>
          <a:custGeom>
            <a:avLst/>
            <a:gdLst/>
            <a:ahLst/>
            <a:cxnLst/>
            <a:rect r="r" b="b" t="t" l="l"/>
            <a:pathLst>
              <a:path h="1237240" w="1171171">
                <a:moveTo>
                  <a:pt x="0" y="0"/>
                </a:moveTo>
                <a:lnTo>
                  <a:pt x="1171171" y="0"/>
                </a:lnTo>
                <a:lnTo>
                  <a:pt x="1171171" y="1237239"/>
                </a:lnTo>
                <a:lnTo>
                  <a:pt x="0" y="1237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8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4744" y="835753"/>
            <a:ext cx="3343701" cy="1154659"/>
          </a:xfrm>
          <a:custGeom>
            <a:avLst/>
            <a:gdLst/>
            <a:ahLst/>
            <a:cxnLst/>
            <a:rect r="r" b="b" t="t" l="l"/>
            <a:pathLst>
              <a:path h="1154659" w="3343701">
                <a:moveTo>
                  <a:pt x="0" y="0"/>
                </a:moveTo>
                <a:lnTo>
                  <a:pt x="3343700" y="0"/>
                </a:lnTo>
                <a:lnTo>
                  <a:pt x="3343700" y="1154660"/>
                </a:lnTo>
                <a:lnTo>
                  <a:pt x="0" y="1154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59199" y="1458746"/>
            <a:ext cx="11769602" cy="244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9000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Introducing the </a:t>
            </a:r>
          </a:p>
          <a:p>
            <a:pPr algn="ctr">
              <a:lnSpc>
                <a:spcPts val="9450"/>
              </a:lnSpc>
            </a:pPr>
            <a:r>
              <a:rPr lang="en-US" b="true" sz="9000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FSS TAP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01765" y="7678743"/>
            <a:ext cx="9884469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399" spc="23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FSS TAP is an all-in-one school management platform that simplifies school operations through digital technology. I</a:t>
            </a:r>
            <a:r>
              <a:rPr lang="en-US" b="true" sz="2399" spc="23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 centralizes attendance, fees, library, exams, communication, and student records into one secure and easy-to-use application, improving efficiency for students, teachers, parents, and administrators.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89511" y="6980732"/>
            <a:ext cx="5908979" cy="49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2600" spc="2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Introducing FSS TAP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882414" y="9340399"/>
            <a:ext cx="450503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2</a:t>
            </a:r>
          </a:p>
          <a:p>
            <a:pPr algn="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43794" y="9210675"/>
            <a:ext cx="2945600" cy="3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https://fss-tap.vercel.app/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05062" y="1828007"/>
            <a:ext cx="5927855" cy="3315493"/>
            <a:chOff x="0" y="0"/>
            <a:chExt cx="855385" cy="478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5385" cy="478423"/>
            </a:xfrm>
            <a:custGeom>
              <a:avLst/>
              <a:gdLst/>
              <a:ahLst/>
              <a:cxnLst/>
              <a:rect r="r" b="b" t="t" l="l"/>
              <a:pathLst>
                <a:path h="478423" w="855385">
                  <a:moveTo>
                    <a:pt x="65301" y="0"/>
                  </a:moveTo>
                  <a:lnTo>
                    <a:pt x="790084" y="0"/>
                  </a:lnTo>
                  <a:cubicBezTo>
                    <a:pt x="826149" y="0"/>
                    <a:pt x="855385" y="29236"/>
                    <a:pt x="855385" y="65301"/>
                  </a:cubicBezTo>
                  <a:lnTo>
                    <a:pt x="855385" y="413122"/>
                  </a:lnTo>
                  <a:cubicBezTo>
                    <a:pt x="855385" y="449187"/>
                    <a:pt x="826149" y="478423"/>
                    <a:pt x="790084" y="478423"/>
                  </a:cubicBezTo>
                  <a:lnTo>
                    <a:pt x="65301" y="478423"/>
                  </a:lnTo>
                  <a:cubicBezTo>
                    <a:pt x="29236" y="478423"/>
                    <a:pt x="0" y="449187"/>
                    <a:pt x="0" y="413122"/>
                  </a:cubicBezTo>
                  <a:lnTo>
                    <a:pt x="0" y="65301"/>
                  </a:lnTo>
                  <a:cubicBezTo>
                    <a:pt x="0" y="29236"/>
                    <a:pt x="29236" y="0"/>
                    <a:pt x="6530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192" r="0" b="-319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3866" y="1032080"/>
            <a:ext cx="2508901" cy="1591855"/>
          </a:xfrm>
          <a:custGeom>
            <a:avLst/>
            <a:gdLst/>
            <a:ahLst/>
            <a:cxnLst/>
            <a:rect r="r" b="b" t="t" l="l"/>
            <a:pathLst>
              <a:path h="1591855" w="2508901">
                <a:moveTo>
                  <a:pt x="0" y="0"/>
                </a:moveTo>
                <a:lnTo>
                  <a:pt x="2508901" y="0"/>
                </a:lnTo>
                <a:lnTo>
                  <a:pt x="2508901" y="1591855"/>
                </a:lnTo>
                <a:lnTo>
                  <a:pt x="0" y="1591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2844" y="3959419"/>
            <a:ext cx="9673163" cy="341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</a:t>
            </a:r>
            <a:r>
              <a:rPr lang="en-US" sz="125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he Problem</a:t>
            </a:r>
          </a:p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 Solve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82414" y="9340399"/>
            <a:ext cx="450503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16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3</a:t>
            </a:r>
          </a:p>
          <a:p>
            <a:pPr algn="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2844" y="9330874"/>
            <a:ext cx="2945600" cy="3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https://fss-tap.vercel.app/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05062" y="5844759"/>
            <a:ext cx="5927855" cy="234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spc="22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Our app eliminates manual paperwork and disconnected systems by centralizing attendance, fees, communication, records, and school management into one smart digital platform, making schools more efficient, organized, and transparent.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450" y="4185835"/>
            <a:ext cx="5332579" cy="4638561"/>
            <a:chOff x="0" y="0"/>
            <a:chExt cx="1404465" cy="1221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0077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77710" y="4185835"/>
            <a:ext cx="5332579" cy="4638561"/>
            <a:chOff x="0" y="0"/>
            <a:chExt cx="1404465" cy="12216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19840" y="4185835"/>
            <a:ext cx="5332579" cy="4638561"/>
            <a:chOff x="0" y="0"/>
            <a:chExt cx="1404465" cy="12216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B2D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9426" y="421846"/>
            <a:ext cx="3372437" cy="1069877"/>
          </a:xfrm>
          <a:custGeom>
            <a:avLst/>
            <a:gdLst/>
            <a:ahLst/>
            <a:cxnLst/>
            <a:rect r="r" b="b" t="t" l="l"/>
            <a:pathLst>
              <a:path h="1069877" w="3372437">
                <a:moveTo>
                  <a:pt x="0" y="0"/>
                </a:moveTo>
                <a:lnTo>
                  <a:pt x="3372437" y="0"/>
                </a:lnTo>
                <a:lnTo>
                  <a:pt x="3372437" y="1069876"/>
                </a:lnTo>
                <a:lnTo>
                  <a:pt x="0" y="106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29426" y="2083920"/>
            <a:ext cx="10589798" cy="11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5"/>
              </a:lnSpc>
            </a:pPr>
            <a:r>
              <a:rPr lang="en-US" sz="8300" b="true">
                <a:solidFill>
                  <a:srgbClr val="33333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Why We need FSS TAP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3020" y="4581524"/>
            <a:ext cx="3509929" cy="124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01.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8929" y="4581526"/>
            <a:ext cx="350992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02.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1058" y="4581526"/>
            <a:ext cx="350992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231F2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03.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020" y="7169803"/>
            <a:ext cx="451343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Schools rely on paperwork, making attendance, records, and daily operations slow and error-prone.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18929" y="7169803"/>
            <a:ext cx="451343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Parents often miss important updates about attendance, fees, notices, and student progress.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61058" y="7169803"/>
            <a:ext cx="4513438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8">
                <a:solidFill>
                  <a:srgbClr val="231F2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Attendance, fees, library, exams, and records are managed separately, reducing efficiency and transparency.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82414" y="9340399"/>
            <a:ext cx="450503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4</a:t>
            </a:r>
          </a:p>
          <a:p>
            <a:pPr algn="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42844" y="9330874"/>
            <a:ext cx="29456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https://fss-tap.vercel.app/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3020" y="5945652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Manual School Management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18929" y="5945652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Poor Parent Communication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61058" y="5945652"/>
            <a:ext cx="4020208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231F2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Disconnected School Systems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91450" y="5392196"/>
            <a:ext cx="656558" cy="596647"/>
          </a:xfrm>
          <a:custGeom>
            <a:avLst/>
            <a:gdLst/>
            <a:ahLst/>
            <a:cxnLst/>
            <a:rect r="r" b="b" t="t" l="l"/>
            <a:pathLst>
              <a:path h="596647" w="656558">
                <a:moveTo>
                  <a:pt x="0" y="0"/>
                </a:moveTo>
                <a:lnTo>
                  <a:pt x="656558" y="0"/>
                </a:lnTo>
                <a:lnTo>
                  <a:pt x="656558" y="596646"/>
                </a:lnTo>
                <a:lnTo>
                  <a:pt x="0" y="596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38944" y="5441377"/>
            <a:ext cx="723752" cy="572669"/>
          </a:xfrm>
          <a:custGeom>
            <a:avLst/>
            <a:gdLst/>
            <a:ahLst/>
            <a:cxnLst/>
            <a:rect r="r" b="b" t="t" l="l"/>
            <a:pathLst>
              <a:path h="572669" w="723752">
                <a:moveTo>
                  <a:pt x="0" y="0"/>
                </a:moveTo>
                <a:lnTo>
                  <a:pt x="723752" y="0"/>
                </a:lnTo>
                <a:lnTo>
                  <a:pt x="723752" y="572669"/>
                </a:lnTo>
                <a:lnTo>
                  <a:pt x="0" y="572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91450" y="1253158"/>
            <a:ext cx="717540" cy="717540"/>
          </a:xfrm>
          <a:custGeom>
            <a:avLst/>
            <a:gdLst/>
            <a:ahLst/>
            <a:cxnLst/>
            <a:rect r="r" b="b" t="t" l="l"/>
            <a:pathLst>
              <a:path h="717540" w="717540">
                <a:moveTo>
                  <a:pt x="0" y="0"/>
                </a:moveTo>
                <a:lnTo>
                  <a:pt x="717540" y="0"/>
                </a:lnTo>
                <a:lnTo>
                  <a:pt x="717540" y="717540"/>
                </a:lnTo>
                <a:lnTo>
                  <a:pt x="0" y="717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38944" y="1470029"/>
            <a:ext cx="751473" cy="500669"/>
          </a:xfrm>
          <a:custGeom>
            <a:avLst/>
            <a:gdLst/>
            <a:ahLst/>
            <a:cxnLst/>
            <a:rect r="r" b="b" t="t" l="l"/>
            <a:pathLst>
              <a:path h="500669" w="751473">
                <a:moveTo>
                  <a:pt x="0" y="0"/>
                </a:moveTo>
                <a:lnTo>
                  <a:pt x="751473" y="0"/>
                </a:lnTo>
                <a:lnTo>
                  <a:pt x="751473" y="500669"/>
                </a:lnTo>
                <a:lnTo>
                  <a:pt x="0" y="5006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9643" y="362227"/>
            <a:ext cx="2852002" cy="1107802"/>
          </a:xfrm>
          <a:custGeom>
            <a:avLst/>
            <a:gdLst/>
            <a:ahLst/>
            <a:cxnLst/>
            <a:rect r="r" b="b" t="t" l="l"/>
            <a:pathLst>
              <a:path h="1107802" w="2852002">
                <a:moveTo>
                  <a:pt x="0" y="0"/>
                </a:moveTo>
                <a:lnTo>
                  <a:pt x="2852002" y="0"/>
                </a:lnTo>
                <a:lnTo>
                  <a:pt x="2852002" y="1107802"/>
                </a:lnTo>
                <a:lnTo>
                  <a:pt x="0" y="11078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2844" y="6312808"/>
            <a:ext cx="533257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pc="28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FSS TAP</a:t>
            </a:r>
            <a:r>
              <a:rPr lang="en-US" sz="2800" spc="28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brings every essential school service into one secure and easy-to-use platform.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844" y="2323123"/>
            <a:ext cx="7187877" cy="341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</a:t>
            </a:r>
            <a:r>
              <a:rPr lang="en-US" sz="125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ey </a:t>
            </a:r>
          </a:p>
          <a:p>
            <a:pPr algn="l">
              <a:lnSpc>
                <a:spcPts val="13125"/>
              </a:lnSpc>
            </a:pPr>
            <a:r>
              <a:rPr lang="en-US" sz="125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82414" y="9340399"/>
            <a:ext cx="450503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5</a:t>
            </a:r>
          </a:p>
          <a:p>
            <a:pPr algn="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42844" y="9330874"/>
            <a:ext cx="2945600" cy="36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https://fss-tap.vercel.app/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38944" y="3135918"/>
            <a:ext cx="402020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spc="23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NFC/QR-based </a:t>
            </a:r>
            <a:r>
              <a:rPr lang="en-US" b="true" sz="2300" spc="23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attendance with instant parent notifications.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38944" y="2094523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</a:t>
            </a: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mart Attendance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91450" y="3135918"/>
            <a:ext cx="402020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spc="23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On</a:t>
            </a:r>
            <a:r>
              <a:rPr lang="en-US" b="true" sz="2300" spc="23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line payments, automatic receipts, and expense tracking.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91450" y="2094523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Fee &amp; Billing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38944" y="7179266"/>
            <a:ext cx="4020208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400" spc="2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Real-</a:t>
            </a:r>
            <a:r>
              <a:rPr lang="en-US" b="true" sz="2400" spc="2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time notices, chat, announcements, and academic updates.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38944" y="6137871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Parent C</a:t>
            </a: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ommunication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91450" y="7188791"/>
            <a:ext cx="4020208" cy="115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 spc="22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</a:t>
            </a:r>
            <a:r>
              <a:rPr lang="en-US" b="true" sz="2200" spc="22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gital book issuing, returns, fines, and inventory management.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91450" y="6137871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Lib</a:t>
            </a:r>
            <a:r>
              <a:rPr lang="en-US" b="true" sz="2600" spc="2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rary Management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054685" y="3150066"/>
            <a:ext cx="5827088" cy="58270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7FC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26627" y="3893950"/>
            <a:ext cx="5083205" cy="50832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ACFC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98569" y="4637833"/>
            <a:ext cx="4339321" cy="433932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2D6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70511" y="5381717"/>
            <a:ext cx="3595437" cy="359543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F1FE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833516" y="3333939"/>
            <a:ext cx="4668351" cy="4633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 flipV="true">
            <a:off x="6194163" y="4525824"/>
            <a:ext cx="5075299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 flipV="true">
            <a:off x="6561638" y="5680629"/>
            <a:ext cx="2189127" cy="35821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AutoShape 21" id="21"/>
          <p:cNvSpPr/>
          <p:nvPr/>
        </p:nvSpPr>
        <p:spPr>
          <a:xfrm>
            <a:off x="6194163" y="7895183"/>
            <a:ext cx="2556602" cy="0"/>
          </a:xfrm>
          <a:prstGeom prst="line">
            <a:avLst/>
          </a:prstGeom>
          <a:ln cap="flat" w="19050">
            <a:solidFill>
              <a:srgbClr val="000000"/>
            </a:solidFill>
            <a:prstDash val="sysDot"/>
            <a:headEnd type="oval" len="lg" w="lg"/>
            <a:tailEnd type="oval" len="lg" w="lg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920334" y="835753"/>
            <a:ext cx="1878235" cy="729562"/>
          </a:xfrm>
          <a:custGeom>
            <a:avLst/>
            <a:gdLst/>
            <a:ahLst/>
            <a:cxnLst/>
            <a:rect r="r" b="b" t="t" l="l"/>
            <a:pathLst>
              <a:path h="729562" w="1878235">
                <a:moveTo>
                  <a:pt x="0" y="0"/>
                </a:moveTo>
                <a:lnTo>
                  <a:pt x="1878235" y="0"/>
                </a:lnTo>
                <a:lnTo>
                  <a:pt x="1878235" y="729563"/>
                </a:lnTo>
                <a:lnTo>
                  <a:pt x="0" y="729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501127" y="6223340"/>
            <a:ext cx="934206" cy="1168307"/>
          </a:xfrm>
          <a:custGeom>
            <a:avLst/>
            <a:gdLst/>
            <a:ahLst/>
            <a:cxnLst/>
            <a:rect r="r" b="b" t="t" l="l"/>
            <a:pathLst>
              <a:path h="1168307" w="934206">
                <a:moveTo>
                  <a:pt x="0" y="0"/>
                </a:moveTo>
                <a:lnTo>
                  <a:pt x="934205" y="0"/>
                </a:lnTo>
                <a:lnTo>
                  <a:pt x="934205" y="1168307"/>
                </a:lnTo>
                <a:lnTo>
                  <a:pt x="0" y="116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2196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882414" y="9340399"/>
            <a:ext cx="450503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6</a:t>
            </a:r>
          </a:p>
          <a:p>
            <a:pPr algn="r">
              <a:lnSpc>
                <a:spcPts val="224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42844" y="9330874"/>
            <a:ext cx="29456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https://fss-tap.vercel.app/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5083" y="1458746"/>
            <a:ext cx="16377834" cy="12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</a:t>
            </a:r>
            <a:r>
              <a:rPr lang="en-US" b="true" sz="90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arket Opportunity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65315" y="3276789"/>
            <a:ext cx="9838134" cy="511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FSS by the Numbers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2,000+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Students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1,858+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Estimated Daily Canteen Transactions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60%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Students Using the Canteen Every School Day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72%</a:t>
            </a:r>
          </a:p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spc="3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Digital Tracking with FSS TAP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75153" y="2582505"/>
            <a:ext cx="3005192" cy="4110309"/>
            <a:chOff x="0" y="0"/>
            <a:chExt cx="374108" cy="5116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4108" cy="511681"/>
            </a:xfrm>
            <a:custGeom>
              <a:avLst/>
              <a:gdLst/>
              <a:ahLst/>
              <a:cxnLst/>
              <a:rect r="r" b="b" t="t" l="l"/>
              <a:pathLst>
                <a:path h="511681" w="374108">
                  <a:moveTo>
                    <a:pt x="82438" y="0"/>
                  </a:moveTo>
                  <a:lnTo>
                    <a:pt x="291670" y="0"/>
                  </a:lnTo>
                  <a:cubicBezTo>
                    <a:pt x="313534" y="0"/>
                    <a:pt x="334502" y="8685"/>
                    <a:pt x="349962" y="24145"/>
                  </a:cubicBezTo>
                  <a:cubicBezTo>
                    <a:pt x="365422" y="39606"/>
                    <a:pt x="374108" y="60574"/>
                    <a:pt x="374108" y="82438"/>
                  </a:cubicBezTo>
                  <a:lnTo>
                    <a:pt x="374108" y="429243"/>
                  </a:lnTo>
                  <a:cubicBezTo>
                    <a:pt x="374108" y="451107"/>
                    <a:pt x="365422" y="472075"/>
                    <a:pt x="349962" y="487535"/>
                  </a:cubicBezTo>
                  <a:cubicBezTo>
                    <a:pt x="334502" y="502995"/>
                    <a:pt x="313534" y="511681"/>
                    <a:pt x="291670" y="511681"/>
                  </a:cubicBezTo>
                  <a:lnTo>
                    <a:pt x="82438" y="511681"/>
                  </a:lnTo>
                  <a:cubicBezTo>
                    <a:pt x="60574" y="511681"/>
                    <a:pt x="39606" y="502995"/>
                    <a:pt x="24145" y="487535"/>
                  </a:cubicBezTo>
                  <a:cubicBezTo>
                    <a:pt x="8685" y="472075"/>
                    <a:pt x="0" y="451107"/>
                    <a:pt x="0" y="429243"/>
                  </a:cubicBezTo>
                  <a:lnTo>
                    <a:pt x="0" y="82438"/>
                  </a:lnTo>
                  <a:cubicBezTo>
                    <a:pt x="0" y="60574"/>
                    <a:pt x="8685" y="39606"/>
                    <a:pt x="24145" y="24145"/>
                  </a:cubicBezTo>
                  <a:cubicBezTo>
                    <a:pt x="39606" y="8685"/>
                    <a:pt x="60574" y="0"/>
                    <a:pt x="82438" y="0"/>
                  </a:cubicBezTo>
                  <a:close/>
                </a:path>
              </a:pathLst>
            </a:custGeom>
            <a:blipFill>
              <a:blip r:embed="rId4"/>
              <a:stretch>
                <a:fillRect l="-1290" t="0" r="-129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1655" y="7036741"/>
            <a:ext cx="2818690" cy="687207"/>
            <a:chOff x="0" y="0"/>
            <a:chExt cx="742371" cy="1809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2371" cy="180993"/>
            </a:xfrm>
            <a:custGeom>
              <a:avLst/>
              <a:gdLst/>
              <a:ahLst/>
              <a:cxnLst/>
              <a:rect r="r" b="b" t="t" l="l"/>
              <a:pathLst>
                <a:path h="180993" w="742371">
                  <a:moveTo>
                    <a:pt x="54933" y="0"/>
                  </a:moveTo>
                  <a:lnTo>
                    <a:pt x="687438" y="0"/>
                  </a:lnTo>
                  <a:cubicBezTo>
                    <a:pt x="702007" y="0"/>
                    <a:pt x="715980" y="5788"/>
                    <a:pt x="726282" y="16089"/>
                  </a:cubicBezTo>
                  <a:cubicBezTo>
                    <a:pt x="736583" y="26391"/>
                    <a:pt x="742371" y="40364"/>
                    <a:pt x="742371" y="54933"/>
                  </a:cubicBezTo>
                  <a:lnTo>
                    <a:pt x="742371" y="126060"/>
                  </a:lnTo>
                  <a:cubicBezTo>
                    <a:pt x="742371" y="156398"/>
                    <a:pt x="717777" y="180993"/>
                    <a:pt x="687438" y="180993"/>
                  </a:cubicBezTo>
                  <a:lnTo>
                    <a:pt x="54933" y="180993"/>
                  </a:lnTo>
                  <a:cubicBezTo>
                    <a:pt x="40364" y="180993"/>
                    <a:pt x="26391" y="175205"/>
                    <a:pt x="16089" y="164903"/>
                  </a:cubicBezTo>
                  <a:cubicBezTo>
                    <a:pt x="5788" y="154601"/>
                    <a:pt x="0" y="140629"/>
                    <a:pt x="0" y="126060"/>
                  </a:cubicBezTo>
                  <a:lnTo>
                    <a:pt x="0" y="54933"/>
                  </a:lnTo>
                  <a:cubicBezTo>
                    <a:pt x="0" y="40364"/>
                    <a:pt x="5788" y="26391"/>
                    <a:pt x="16089" y="16089"/>
                  </a:cubicBezTo>
                  <a:cubicBezTo>
                    <a:pt x="26391" y="5788"/>
                    <a:pt x="40364" y="0"/>
                    <a:pt x="54933" y="0"/>
                  </a:cubicBezTo>
                  <a:close/>
                </a:path>
              </a:pathLst>
            </a:custGeom>
            <a:solidFill>
              <a:srgbClr val="F5F5F5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42371" cy="21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333333"/>
                  </a:solidFill>
                  <a:latin typeface="Neue Montreal Medium"/>
                  <a:ea typeface="Neue Montreal Medium"/>
                  <a:cs typeface="Neue Montreal Medium"/>
                  <a:sym typeface="Neue Montreal Medium"/>
                </a:rPr>
                <a:t>Arpan Bhattarai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19486" y="2582828"/>
            <a:ext cx="2939799" cy="4110309"/>
            <a:chOff x="0" y="0"/>
            <a:chExt cx="374108" cy="523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4108" cy="523063"/>
            </a:xfrm>
            <a:custGeom>
              <a:avLst/>
              <a:gdLst/>
              <a:ahLst/>
              <a:cxnLst/>
              <a:rect r="r" b="b" t="t" l="l"/>
              <a:pathLst>
                <a:path h="523063" w="374108">
                  <a:moveTo>
                    <a:pt x="84272" y="0"/>
                  </a:moveTo>
                  <a:lnTo>
                    <a:pt x="289836" y="0"/>
                  </a:lnTo>
                  <a:cubicBezTo>
                    <a:pt x="312186" y="0"/>
                    <a:pt x="333621" y="8879"/>
                    <a:pt x="349425" y="24683"/>
                  </a:cubicBezTo>
                  <a:cubicBezTo>
                    <a:pt x="365229" y="40487"/>
                    <a:pt x="374108" y="61921"/>
                    <a:pt x="374108" y="84272"/>
                  </a:cubicBezTo>
                  <a:lnTo>
                    <a:pt x="374108" y="438791"/>
                  </a:lnTo>
                  <a:cubicBezTo>
                    <a:pt x="374108" y="461141"/>
                    <a:pt x="365229" y="482576"/>
                    <a:pt x="349425" y="498380"/>
                  </a:cubicBezTo>
                  <a:cubicBezTo>
                    <a:pt x="333621" y="514184"/>
                    <a:pt x="312186" y="523063"/>
                    <a:pt x="289836" y="523063"/>
                  </a:cubicBezTo>
                  <a:lnTo>
                    <a:pt x="84272" y="523063"/>
                  </a:lnTo>
                  <a:cubicBezTo>
                    <a:pt x="37730" y="523063"/>
                    <a:pt x="0" y="485333"/>
                    <a:pt x="0" y="438791"/>
                  </a:cubicBezTo>
                  <a:lnTo>
                    <a:pt x="0" y="84272"/>
                  </a:lnTo>
                  <a:cubicBezTo>
                    <a:pt x="0" y="37730"/>
                    <a:pt x="37730" y="0"/>
                    <a:pt x="84272" y="0"/>
                  </a:cubicBezTo>
                  <a:close/>
                </a:path>
              </a:pathLst>
            </a:custGeom>
            <a:blipFill>
              <a:blip r:embed="rId5"/>
              <a:stretch>
                <a:fillRect l="-9159" t="0" r="-9159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282011" y="7036741"/>
            <a:ext cx="2414749" cy="687207"/>
            <a:chOff x="0" y="0"/>
            <a:chExt cx="635983" cy="180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983" cy="180993"/>
            </a:xfrm>
            <a:custGeom>
              <a:avLst/>
              <a:gdLst/>
              <a:ahLst/>
              <a:cxnLst/>
              <a:rect r="r" b="b" t="t" l="l"/>
              <a:pathLst>
                <a:path h="180993" w="635983">
                  <a:moveTo>
                    <a:pt x="64122" y="0"/>
                  </a:moveTo>
                  <a:lnTo>
                    <a:pt x="571861" y="0"/>
                  </a:lnTo>
                  <a:cubicBezTo>
                    <a:pt x="588868" y="0"/>
                    <a:pt x="605177" y="6756"/>
                    <a:pt x="617202" y="18781"/>
                  </a:cubicBezTo>
                  <a:cubicBezTo>
                    <a:pt x="629228" y="30806"/>
                    <a:pt x="635983" y="47116"/>
                    <a:pt x="635983" y="64122"/>
                  </a:cubicBezTo>
                  <a:lnTo>
                    <a:pt x="635983" y="116871"/>
                  </a:lnTo>
                  <a:cubicBezTo>
                    <a:pt x="635983" y="133877"/>
                    <a:pt x="629228" y="150187"/>
                    <a:pt x="617202" y="162212"/>
                  </a:cubicBezTo>
                  <a:cubicBezTo>
                    <a:pt x="605177" y="174237"/>
                    <a:pt x="588868" y="180993"/>
                    <a:pt x="571861" y="180993"/>
                  </a:cubicBezTo>
                  <a:lnTo>
                    <a:pt x="64122" y="180993"/>
                  </a:lnTo>
                  <a:cubicBezTo>
                    <a:pt x="47116" y="180993"/>
                    <a:pt x="30806" y="174237"/>
                    <a:pt x="18781" y="162212"/>
                  </a:cubicBezTo>
                  <a:cubicBezTo>
                    <a:pt x="6756" y="150187"/>
                    <a:pt x="0" y="133877"/>
                    <a:pt x="0" y="116871"/>
                  </a:cubicBezTo>
                  <a:lnTo>
                    <a:pt x="0" y="64122"/>
                  </a:lnTo>
                  <a:cubicBezTo>
                    <a:pt x="0" y="47116"/>
                    <a:pt x="6756" y="30806"/>
                    <a:pt x="18781" y="18781"/>
                  </a:cubicBezTo>
                  <a:cubicBezTo>
                    <a:pt x="30806" y="6756"/>
                    <a:pt x="47116" y="0"/>
                    <a:pt x="64122" y="0"/>
                  </a:cubicBezTo>
                  <a:close/>
                </a:path>
              </a:pathLst>
            </a:custGeom>
            <a:solidFill>
              <a:srgbClr val="F5F5F5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35983" cy="21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333333"/>
                  </a:solidFill>
                  <a:latin typeface="Neue Montreal Medium"/>
                  <a:ea typeface="Neue Montreal Medium"/>
                  <a:cs typeface="Neue Montreal Medium"/>
                  <a:sym typeface="Neue Montreal Medium"/>
                </a:rPr>
                <a:t>Anupam Dhakal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4292" y="744175"/>
            <a:ext cx="3041713" cy="1181492"/>
          </a:xfrm>
          <a:custGeom>
            <a:avLst/>
            <a:gdLst/>
            <a:ahLst/>
            <a:cxnLst/>
            <a:rect r="r" b="b" t="t" l="l"/>
            <a:pathLst>
              <a:path h="1181492" w="3041713">
                <a:moveTo>
                  <a:pt x="0" y="0"/>
                </a:moveTo>
                <a:lnTo>
                  <a:pt x="3041713" y="0"/>
                </a:lnTo>
                <a:lnTo>
                  <a:pt x="3041713" y="1181492"/>
                </a:lnTo>
                <a:lnTo>
                  <a:pt x="0" y="11814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23270" y="3112204"/>
            <a:ext cx="2384318" cy="2384318"/>
          </a:xfrm>
          <a:custGeom>
            <a:avLst/>
            <a:gdLst/>
            <a:ahLst/>
            <a:cxnLst/>
            <a:rect r="r" b="b" t="t" l="l"/>
            <a:pathLst>
              <a:path h="2384318" w="2384318">
                <a:moveTo>
                  <a:pt x="0" y="0"/>
                </a:moveTo>
                <a:lnTo>
                  <a:pt x="2384318" y="0"/>
                </a:lnTo>
                <a:lnTo>
                  <a:pt x="2384318" y="2384318"/>
                </a:lnTo>
                <a:lnTo>
                  <a:pt x="0" y="2384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3128076"/>
            <a:ext cx="2332561" cy="2368446"/>
          </a:xfrm>
          <a:custGeom>
            <a:avLst/>
            <a:gdLst/>
            <a:ahLst/>
            <a:cxnLst/>
            <a:rect r="r" b="b" t="t" l="l"/>
            <a:pathLst>
              <a:path h="2368446" w="2332561">
                <a:moveTo>
                  <a:pt x="0" y="0"/>
                </a:moveTo>
                <a:lnTo>
                  <a:pt x="2332561" y="0"/>
                </a:lnTo>
                <a:lnTo>
                  <a:pt x="2332561" y="2368446"/>
                </a:lnTo>
                <a:lnTo>
                  <a:pt x="0" y="23684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82414" y="93403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844" y="9330874"/>
            <a:ext cx="294560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2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https://fss-tap.vercel.app/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844" y="717431"/>
            <a:ext cx="16377834" cy="12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Mee</a:t>
            </a:r>
            <a:r>
              <a:rPr lang="en-US" b="true" sz="9000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 the Team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29296" y="7294619"/>
            <a:ext cx="4262961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spc="35">
                <a:solidFill>
                  <a:srgbClr val="FF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Connect Us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DAHQZ5Md6wk</dc:identifier>
  <dcterms:modified xsi:type="dcterms:W3CDTF">2011-08-01T06:04:30Z</dcterms:modified>
  <cp:revision>1</cp:revision>
  <dc:title>FSS TAP</dc:title>
</cp:coreProperties>
</file>